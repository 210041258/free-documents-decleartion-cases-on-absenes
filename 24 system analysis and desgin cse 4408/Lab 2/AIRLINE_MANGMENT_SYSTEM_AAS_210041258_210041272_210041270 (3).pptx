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DM Sans" charset="1" panose="00000000000000000000"/>
      <p:regular r:id="rId10"/>
    </p:embeddedFont>
    <p:embeddedFont>
      <p:font typeface="DM Sans Bold" charset="1" panose="00000000000000000000"/>
      <p:regular r:id="rId11"/>
    </p:embeddedFont>
    <p:embeddedFont>
      <p:font typeface="DM Sans Italics" charset="1" panose="00000000000000000000"/>
      <p:regular r:id="rId12"/>
    </p:embeddedFont>
    <p:embeddedFont>
      <p:font typeface="DM Sans Bold Italics" charset="1" panose="00000000000000000000"/>
      <p:regular r:id="rId13"/>
    </p:embeddedFont>
    <p:embeddedFont>
      <p:font typeface="Aileron" charset="1" panose="00000500000000000000"/>
      <p:regular r:id="rId14"/>
    </p:embeddedFont>
    <p:embeddedFont>
      <p:font typeface="Aileron Bold" charset="1" panose="00000800000000000000"/>
      <p:regular r:id="rId15"/>
    </p:embeddedFont>
    <p:embeddedFont>
      <p:font typeface="Aileron Italics" charset="1" panose="00000500000000000000"/>
      <p:regular r:id="rId16"/>
    </p:embeddedFont>
    <p:embeddedFont>
      <p:font typeface="Aileron Bold Italics" charset="1" panose="00000800000000000000"/>
      <p:regular r:id="rId17"/>
    </p:embeddedFont>
    <p:embeddedFont>
      <p:font typeface="Aileron Thin" charset="1" panose="00000300000000000000"/>
      <p:regular r:id="rId18"/>
    </p:embeddedFont>
    <p:embeddedFont>
      <p:font typeface="Aileron Thin Italics" charset="1" panose="00000300000000000000"/>
      <p:regular r:id="rId19"/>
    </p:embeddedFont>
    <p:embeddedFont>
      <p:font typeface="Aileron Light" charset="1" panose="00000400000000000000"/>
      <p:regular r:id="rId20"/>
    </p:embeddedFont>
    <p:embeddedFont>
      <p:font typeface="Aileron Light Italics" charset="1" panose="00000400000000000000"/>
      <p:regular r:id="rId21"/>
    </p:embeddedFont>
    <p:embeddedFont>
      <p:font typeface="Aileron Ultra-Bold" charset="1" panose="00000A00000000000000"/>
      <p:regular r:id="rId22"/>
    </p:embeddedFont>
    <p:embeddedFont>
      <p:font typeface="Aileron Ultra-Bold Italics" charset="1" panose="00000A00000000000000"/>
      <p:regular r:id="rId23"/>
    </p:embeddedFont>
    <p:embeddedFont>
      <p:font typeface="Aileron Heavy" charset="1" panose="00000A00000000000000"/>
      <p:regular r:id="rId24"/>
    </p:embeddedFont>
    <p:embeddedFont>
      <p:font typeface="Aileron Heavy Italics" charset="1" panose="00000A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slides/slide1.xml" Type="http://schemas.openxmlformats.org/officeDocument/2006/relationships/slide"/><Relationship Id="rId27" Target="slides/slide2.xml" Type="http://schemas.openxmlformats.org/officeDocument/2006/relationships/slide"/><Relationship Id="rId28" Target="slides/slide3.xml" Type="http://schemas.openxmlformats.org/officeDocument/2006/relationships/slide"/><Relationship Id="rId29" Target="slides/slide4.xml" Type="http://schemas.openxmlformats.org/officeDocument/2006/relationships/slide"/><Relationship Id="rId3" Target="viewProps.xml" Type="http://schemas.openxmlformats.org/officeDocument/2006/relationships/viewProps"/><Relationship Id="rId30" Target="slides/slide5.xml" Type="http://schemas.openxmlformats.org/officeDocument/2006/relationships/slide"/><Relationship Id="rId31" Target="slides/slide6.xml" Type="http://schemas.openxmlformats.org/officeDocument/2006/relationships/slide"/><Relationship Id="rId32" Target="slides/slide7.xml" Type="http://schemas.openxmlformats.org/officeDocument/2006/relationships/slide"/><Relationship Id="rId33" Target="slides/slide8.xml" Type="http://schemas.openxmlformats.org/officeDocument/2006/relationships/slide"/><Relationship Id="rId34" Target="slides/slide9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6.png" Type="http://schemas.openxmlformats.org/officeDocument/2006/relationships/image"/><Relationship Id="rId4" Target="../media/image1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32890">
            <a:off x="15633874" y="2828175"/>
            <a:ext cx="1525575" cy="1332871"/>
          </a:xfrm>
          <a:custGeom>
            <a:avLst/>
            <a:gdLst/>
            <a:ahLst/>
            <a:cxnLst/>
            <a:rect r="r" b="b" t="t" l="l"/>
            <a:pathLst>
              <a:path h="1332871" w="1525575">
                <a:moveTo>
                  <a:pt x="0" y="0"/>
                </a:moveTo>
                <a:lnTo>
                  <a:pt x="1525575" y="0"/>
                </a:lnTo>
                <a:lnTo>
                  <a:pt x="1525575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8236" y="1028700"/>
            <a:ext cx="14688425" cy="8487775"/>
          </a:xfrm>
          <a:custGeom>
            <a:avLst/>
            <a:gdLst/>
            <a:ahLst/>
            <a:cxnLst/>
            <a:rect r="r" b="b" t="t" l="l"/>
            <a:pathLst>
              <a:path h="8487775" w="14688425">
                <a:moveTo>
                  <a:pt x="0" y="0"/>
                </a:moveTo>
                <a:lnTo>
                  <a:pt x="14688425" y="0"/>
                </a:lnTo>
                <a:lnTo>
                  <a:pt x="14688425" y="8487775"/>
                </a:lnTo>
                <a:lnTo>
                  <a:pt x="0" y="8487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8519" y="1070219"/>
            <a:ext cx="1101991" cy="1045871"/>
          </a:xfrm>
          <a:custGeom>
            <a:avLst/>
            <a:gdLst/>
            <a:ahLst/>
            <a:cxnLst/>
            <a:rect r="r" b="b" t="t" l="l"/>
            <a:pathLst>
              <a:path h="1045871" w="1101991">
                <a:moveTo>
                  <a:pt x="0" y="0"/>
                </a:moveTo>
                <a:lnTo>
                  <a:pt x="1101991" y="0"/>
                </a:lnTo>
                <a:lnTo>
                  <a:pt x="1101991" y="1045871"/>
                </a:lnTo>
                <a:lnTo>
                  <a:pt x="0" y="1045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30875" y="3494611"/>
            <a:ext cx="2502028" cy="1339529"/>
          </a:xfrm>
          <a:custGeom>
            <a:avLst/>
            <a:gdLst/>
            <a:ahLst/>
            <a:cxnLst/>
            <a:rect r="r" b="b" t="t" l="l"/>
            <a:pathLst>
              <a:path h="1339529" w="2502028">
                <a:moveTo>
                  <a:pt x="0" y="0"/>
                </a:moveTo>
                <a:lnTo>
                  <a:pt x="2502028" y="0"/>
                </a:lnTo>
                <a:lnTo>
                  <a:pt x="2502028" y="1339529"/>
                </a:lnTo>
                <a:lnTo>
                  <a:pt x="0" y="13395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0568" y="3141907"/>
            <a:ext cx="15026864" cy="337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>
                <a:solidFill>
                  <a:srgbClr val="000000"/>
                </a:solidFill>
                <a:latin typeface="Aileron Ultra-Bold"/>
              </a:rPr>
              <a:t>Palestine Supporter Group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77852" y="6630488"/>
            <a:ext cx="10932295" cy="61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ileron"/>
              </a:rPr>
              <a:t>Shuaibu mustapha musa 210041270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440143" y="1277958"/>
            <a:ext cx="2027125" cy="2216653"/>
          </a:xfrm>
          <a:custGeom>
            <a:avLst/>
            <a:gdLst/>
            <a:ahLst/>
            <a:cxnLst/>
            <a:rect r="r" b="b" t="t" l="l"/>
            <a:pathLst>
              <a:path h="2216653" w="2027125">
                <a:moveTo>
                  <a:pt x="0" y="0"/>
                </a:moveTo>
                <a:lnTo>
                  <a:pt x="2027125" y="0"/>
                </a:lnTo>
                <a:lnTo>
                  <a:pt x="2027125" y="2216653"/>
                </a:lnTo>
                <a:lnTo>
                  <a:pt x="0" y="2216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11163" y="1028700"/>
            <a:ext cx="2037234" cy="1468147"/>
          </a:xfrm>
          <a:custGeom>
            <a:avLst/>
            <a:gdLst/>
            <a:ahLst/>
            <a:cxnLst/>
            <a:rect r="r" b="b" t="t" l="l"/>
            <a:pathLst>
              <a:path h="1468147" w="2037234">
                <a:moveTo>
                  <a:pt x="0" y="0"/>
                </a:moveTo>
                <a:lnTo>
                  <a:pt x="2037234" y="0"/>
                </a:lnTo>
                <a:lnTo>
                  <a:pt x="2037234" y="1468147"/>
                </a:lnTo>
                <a:lnTo>
                  <a:pt x="0" y="14681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925507">
            <a:off x="945449" y="8056054"/>
            <a:ext cx="1525575" cy="1332871"/>
          </a:xfrm>
          <a:custGeom>
            <a:avLst/>
            <a:gdLst/>
            <a:ahLst/>
            <a:cxnLst/>
            <a:rect r="r" b="b" t="t" l="l"/>
            <a:pathLst>
              <a:path h="1332871" w="1525575">
                <a:moveTo>
                  <a:pt x="0" y="0"/>
                </a:moveTo>
                <a:lnTo>
                  <a:pt x="1525574" y="0"/>
                </a:lnTo>
                <a:lnTo>
                  <a:pt x="1525574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846079">
            <a:off x="16571302" y="5960275"/>
            <a:ext cx="930350" cy="882971"/>
          </a:xfrm>
          <a:custGeom>
            <a:avLst/>
            <a:gdLst/>
            <a:ahLst/>
            <a:cxnLst/>
            <a:rect r="r" b="b" t="t" l="l"/>
            <a:pathLst>
              <a:path h="882971" w="930350">
                <a:moveTo>
                  <a:pt x="0" y="0"/>
                </a:moveTo>
                <a:lnTo>
                  <a:pt x="930349" y="0"/>
                </a:lnTo>
                <a:lnTo>
                  <a:pt x="930349" y="882971"/>
                </a:lnTo>
                <a:lnTo>
                  <a:pt x="0" y="8829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77852" y="7361932"/>
            <a:ext cx="10932295" cy="61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ileron"/>
              </a:rPr>
              <a:t>Ahmed M. S. Albreem 210041258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120" y="2310084"/>
            <a:ext cx="10932295" cy="61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ileron"/>
              </a:rPr>
              <a:t>CSE 4408: SYSTEM ANALYSIS AND DESIGN LAB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7092" y="1427356"/>
            <a:ext cx="9366947" cy="7432288"/>
            <a:chOff x="0" y="0"/>
            <a:chExt cx="12489263" cy="990971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2489263" cy="3355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10008"/>
                </a:lnSpc>
                <a:spcBef>
                  <a:spcPct val="0"/>
                </a:spcBef>
              </a:pPr>
              <a:r>
                <a:rPr lang="en-US" sz="8137">
                  <a:solidFill>
                    <a:srgbClr val="F3F3F3"/>
                  </a:solidFill>
                  <a:latin typeface="Aileron Heavy"/>
                </a:rPr>
                <a:t>What is the Project 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66310"/>
              <a:ext cx="10731363" cy="5643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72"/>
                </a:lnSpc>
              </a:pPr>
              <a:r>
                <a:rPr lang="en-US" sz="3051" spc="39">
                  <a:solidFill>
                    <a:srgbClr val="F3F3F3"/>
                  </a:solidFill>
                  <a:latin typeface="Aileron"/>
                </a:rPr>
                <a:t>The project manages airport operations, including visitor management, ticketing. </a:t>
              </a:r>
            </a:p>
            <a:p>
              <a:pPr>
                <a:lnSpc>
                  <a:spcPts val="4272"/>
                </a:lnSpc>
              </a:pPr>
            </a:p>
            <a:p>
              <a:pPr>
                <a:lnSpc>
                  <a:spcPts val="4272"/>
                </a:lnSpc>
              </a:pPr>
              <a:r>
                <a:rPr lang="en-US" sz="3051" spc="39">
                  <a:solidFill>
                    <a:srgbClr val="F3F3F3"/>
                  </a:solidFill>
                  <a:latin typeface="Aileron"/>
                </a:rPr>
                <a:t>It utilizes functions to </a:t>
              </a:r>
            </a:p>
            <a:p>
              <a:pPr marL="658813" indent="-329406" lvl="1">
                <a:lnSpc>
                  <a:spcPts val="4272"/>
                </a:lnSpc>
                <a:buFont typeface="Arial"/>
                <a:buChar char="•"/>
              </a:pPr>
              <a:r>
                <a:rPr lang="en-US" sz="3051" spc="39">
                  <a:solidFill>
                    <a:srgbClr val="F3F3F3"/>
                  </a:solidFill>
                  <a:latin typeface="Aileron"/>
                </a:rPr>
                <a:t>guide employees toward their tasks</a:t>
              </a:r>
            </a:p>
            <a:p>
              <a:pPr marL="658813" indent="-329406" lvl="1">
                <a:lnSpc>
                  <a:spcPts val="4272"/>
                </a:lnSpc>
                <a:buFont typeface="Arial"/>
                <a:buChar char="•"/>
              </a:pPr>
              <a:r>
                <a:rPr lang="en-US" sz="3051" spc="39">
                  <a:solidFill>
                    <a:srgbClr val="F3F3F3"/>
                  </a:solidFill>
                  <a:latin typeface="Aileron"/>
                </a:rPr>
                <a:t> scheduling them in a system table for efficient management.</a:t>
              </a:r>
            </a:p>
            <a:p>
              <a:pPr>
                <a:lnSpc>
                  <a:spcPts val="427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41695" y="2007108"/>
            <a:ext cx="7381179" cy="6272784"/>
          </a:xfrm>
          <a:custGeom>
            <a:avLst/>
            <a:gdLst/>
            <a:ahLst/>
            <a:cxnLst/>
            <a:rect r="r" b="b" t="t" l="l"/>
            <a:pathLst>
              <a:path h="6272784" w="7381179">
                <a:moveTo>
                  <a:pt x="0" y="0"/>
                </a:moveTo>
                <a:lnTo>
                  <a:pt x="7381179" y="0"/>
                </a:lnTo>
                <a:lnTo>
                  <a:pt x="7381179" y="6272784"/>
                </a:lnTo>
                <a:lnTo>
                  <a:pt x="0" y="6272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432890">
            <a:off x="15919520" y="2074708"/>
            <a:ext cx="1181415" cy="1032184"/>
          </a:xfrm>
          <a:custGeom>
            <a:avLst/>
            <a:gdLst/>
            <a:ahLst/>
            <a:cxnLst/>
            <a:rect r="r" b="b" t="t" l="l"/>
            <a:pathLst>
              <a:path h="1032184" w="1181415">
                <a:moveTo>
                  <a:pt x="0" y="0"/>
                </a:moveTo>
                <a:lnTo>
                  <a:pt x="1181416" y="0"/>
                </a:lnTo>
                <a:lnTo>
                  <a:pt x="1181416" y="1032184"/>
                </a:lnTo>
                <a:lnTo>
                  <a:pt x="0" y="1032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41695" y="7263356"/>
            <a:ext cx="2037234" cy="1468147"/>
          </a:xfrm>
          <a:custGeom>
            <a:avLst/>
            <a:gdLst/>
            <a:ahLst/>
            <a:cxnLst/>
            <a:rect r="r" b="b" t="t" l="l"/>
            <a:pathLst>
              <a:path h="1468147" w="2037234">
                <a:moveTo>
                  <a:pt x="0" y="0"/>
                </a:moveTo>
                <a:lnTo>
                  <a:pt x="2037234" y="0"/>
                </a:lnTo>
                <a:lnTo>
                  <a:pt x="2037234" y="1468148"/>
                </a:lnTo>
                <a:lnTo>
                  <a:pt x="0" y="1468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0864" y="-759448"/>
            <a:ext cx="2402463" cy="2627083"/>
          </a:xfrm>
          <a:custGeom>
            <a:avLst/>
            <a:gdLst/>
            <a:ahLst/>
            <a:cxnLst/>
            <a:rect r="r" b="b" t="t" l="l"/>
            <a:pathLst>
              <a:path h="2627083" w="2402463">
                <a:moveTo>
                  <a:pt x="0" y="0"/>
                </a:moveTo>
                <a:lnTo>
                  <a:pt x="2402463" y="0"/>
                </a:lnTo>
                <a:lnTo>
                  <a:pt x="2402463" y="2627083"/>
                </a:lnTo>
                <a:lnTo>
                  <a:pt x="0" y="2627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32890">
            <a:off x="15946219" y="1449654"/>
            <a:ext cx="1525575" cy="1332871"/>
          </a:xfrm>
          <a:custGeom>
            <a:avLst/>
            <a:gdLst/>
            <a:ahLst/>
            <a:cxnLst/>
            <a:rect r="r" b="b" t="t" l="l"/>
            <a:pathLst>
              <a:path h="1332871" w="1525575">
                <a:moveTo>
                  <a:pt x="0" y="0"/>
                </a:moveTo>
                <a:lnTo>
                  <a:pt x="1525575" y="0"/>
                </a:lnTo>
                <a:lnTo>
                  <a:pt x="1525575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33679" y="9448445"/>
            <a:ext cx="2304999" cy="1234044"/>
          </a:xfrm>
          <a:custGeom>
            <a:avLst/>
            <a:gdLst/>
            <a:ahLst/>
            <a:cxnLst/>
            <a:rect r="r" b="b" t="t" l="l"/>
            <a:pathLst>
              <a:path h="1234044" w="2304999">
                <a:moveTo>
                  <a:pt x="0" y="0"/>
                </a:moveTo>
                <a:lnTo>
                  <a:pt x="2304999" y="0"/>
                </a:lnTo>
                <a:lnTo>
                  <a:pt x="2304999" y="1234045"/>
                </a:lnTo>
                <a:lnTo>
                  <a:pt x="0" y="12340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2095" y="-744854"/>
            <a:ext cx="2037234" cy="1468147"/>
          </a:xfrm>
          <a:custGeom>
            <a:avLst/>
            <a:gdLst/>
            <a:ahLst/>
            <a:cxnLst/>
            <a:rect r="r" b="b" t="t" l="l"/>
            <a:pathLst>
              <a:path h="1468147" w="2037234">
                <a:moveTo>
                  <a:pt x="0" y="0"/>
                </a:moveTo>
                <a:lnTo>
                  <a:pt x="2037234" y="0"/>
                </a:lnTo>
                <a:lnTo>
                  <a:pt x="2037234" y="1468147"/>
                </a:lnTo>
                <a:lnTo>
                  <a:pt x="0" y="14681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925507">
            <a:off x="703713" y="5489833"/>
            <a:ext cx="1525575" cy="1332871"/>
          </a:xfrm>
          <a:custGeom>
            <a:avLst/>
            <a:gdLst/>
            <a:ahLst/>
            <a:cxnLst/>
            <a:rect r="r" b="b" t="t" l="l"/>
            <a:pathLst>
              <a:path h="1332871" w="1525575">
                <a:moveTo>
                  <a:pt x="0" y="0"/>
                </a:moveTo>
                <a:lnTo>
                  <a:pt x="1525574" y="0"/>
                </a:lnTo>
                <a:lnTo>
                  <a:pt x="1525574" y="1332870"/>
                </a:lnTo>
                <a:lnTo>
                  <a:pt x="0" y="1332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846079">
            <a:off x="16243832" y="8175576"/>
            <a:ext cx="930350" cy="882971"/>
          </a:xfrm>
          <a:custGeom>
            <a:avLst/>
            <a:gdLst/>
            <a:ahLst/>
            <a:cxnLst/>
            <a:rect r="r" b="b" t="t" l="l"/>
            <a:pathLst>
              <a:path h="882971" w="930350">
                <a:moveTo>
                  <a:pt x="0" y="0"/>
                </a:moveTo>
                <a:lnTo>
                  <a:pt x="930349" y="0"/>
                </a:lnTo>
                <a:lnTo>
                  <a:pt x="930349" y="882971"/>
                </a:lnTo>
                <a:lnTo>
                  <a:pt x="0" y="882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84644" y="3145371"/>
            <a:ext cx="12518713" cy="149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10499">
                <a:solidFill>
                  <a:srgbClr val="F3F3F3"/>
                </a:solidFill>
                <a:latin typeface="Aileron Ultra-Bold"/>
              </a:rPr>
              <a:t>Key Features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0124" y="4753991"/>
            <a:ext cx="9567752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F3F3F3"/>
                </a:solidFill>
                <a:latin typeface="Aileron Bold"/>
              </a:rPr>
              <a:t>Flight Scheduling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60124" y="7381721"/>
            <a:ext cx="9567752" cy="101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9"/>
              </a:lnSpc>
            </a:pPr>
            <a:r>
              <a:rPr lang="en-US" sz="2899" spc="37">
                <a:solidFill>
                  <a:srgbClr val="F3F3F3"/>
                </a:solidFill>
                <a:latin typeface="Aileron"/>
              </a:rPr>
              <a:t>Intuitive and user-friendly interface designed for airport staff and passengers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60124" y="5589555"/>
            <a:ext cx="9567752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F3F3F3"/>
                </a:solidFill>
                <a:latin typeface="Aileron Bold"/>
              </a:rPr>
              <a:t>Mobile Accessibility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60124" y="6501841"/>
            <a:ext cx="9567752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F3F3F3"/>
                </a:solidFill>
                <a:latin typeface="Aileron Bold"/>
              </a:rPr>
              <a:t>User-friendly Interface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7804949" cy="1975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7872"/>
              </a:lnSpc>
              <a:spcBef>
                <a:spcPct val="0"/>
              </a:spcBef>
            </a:pPr>
            <a:r>
              <a:rPr lang="en-US" sz="6400">
                <a:solidFill>
                  <a:srgbClr val="000000"/>
                </a:solidFill>
                <a:latin typeface="Aileron Heavy"/>
              </a:rPr>
              <a:t>Technical Feasibility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7162" y="6445907"/>
            <a:ext cx="4573377" cy="3472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6"/>
              </a:lnSpc>
            </a:pPr>
            <a:r>
              <a:rPr lang="en-US" sz="2497" spc="32">
                <a:solidFill>
                  <a:srgbClr val="000000"/>
                </a:solidFill>
                <a:latin typeface="Aileron Bold"/>
              </a:rPr>
              <a:t>Software and Hardware Requirements :</a:t>
            </a:r>
          </a:p>
          <a:p>
            <a:pPr>
              <a:lnSpc>
                <a:spcPts val="3496"/>
              </a:lnSpc>
            </a:pPr>
            <a:r>
              <a:rPr lang="en-US" sz="2497" spc="32">
                <a:solidFill>
                  <a:srgbClr val="000000"/>
                </a:solidFill>
                <a:latin typeface="Aileron"/>
              </a:rPr>
              <a:t>the headwear android devices for testing with screen sizes and operating system for computing, software of MIT codes, and firebase .</a:t>
            </a:r>
          </a:p>
          <a:p>
            <a:pPr marL="0" indent="0" lvl="0">
              <a:lnSpc>
                <a:spcPts val="349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028427" y="6445907"/>
            <a:ext cx="5312417" cy="346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86"/>
              </a:lnSpc>
            </a:pPr>
            <a:r>
              <a:rPr lang="en-US" sz="2490" spc="32">
                <a:solidFill>
                  <a:srgbClr val="000000"/>
                </a:solidFill>
                <a:latin typeface="Aileron Bold"/>
              </a:rPr>
              <a:t>Evaluation of Technical Expertise : </a:t>
            </a:r>
          </a:p>
          <a:p>
            <a:pPr>
              <a:lnSpc>
                <a:spcPts val="3486"/>
              </a:lnSpc>
            </a:pPr>
            <a:r>
              <a:rPr lang="en-US" sz="2490" spc="32">
                <a:solidFill>
                  <a:srgbClr val="000000"/>
                </a:solidFill>
                <a:latin typeface="Aileron"/>
              </a:rPr>
              <a:t>The hardware includes Android devices</a:t>
            </a:r>
          </a:p>
          <a:p>
            <a:pPr>
              <a:lnSpc>
                <a:spcPts val="3486"/>
              </a:lnSpc>
            </a:pPr>
            <a:r>
              <a:rPr lang="en-US" sz="2490" spc="32">
                <a:solidFill>
                  <a:srgbClr val="000000"/>
                </a:solidFill>
                <a:latin typeface="Aileron"/>
              </a:rPr>
              <a:t>The software comprises any MIT coded systems Firebase for data storage to make sure the real-time data working better .</a:t>
            </a:r>
          </a:p>
          <a:p>
            <a:pPr marL="0" indent="0" lvl="0">
              <a:lnSpc>
                <a:spcPts val="348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769469" y="6426857"/>
            <a:ext cx="5918456" cy="200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008"/>
              </a:lnSpc>
            </a:pPr>
            <a:r>
              <a:rPr lang="en-US" sz="2863" spc="37">
                <a:solidFill>
                  <a:srgbClr val="000000"/>
                </a:solidFill>
                <a:latin typeface="Aileron Bold"/>
              </a:rPr>
              <a:t>Assesses complexity and risks</a:t>
            </a:r>
            <a:r>
              <a:rPr lang="en-US" sz="2863" spc="37">
                <a:solidFill>
                  <a:srgbClr val="000000"/>
                </a:solidFill>
                <a:latin typeface="Aileron Bold"/>
              </a:rPr>
              <a:t> : </a:t>
            </a:r>
          </a:p>
          <a:p>
            <a:pPr marL="618224" indent="-309112" lvl="1">
              <a:lnSpc>
                <a:spcPts val="4008"/>
              </a:lnSpc>
              <a:buFont typeface="Arial"/>
              <a:buChar char="•"/>
            </a:pPr>
            <a:r>
              <a:rPr lang="en-US" sz="2863" spc="37">
                <a:solidFill>
                  <a:srgbClr val="000000"/>
                </a:solidFill>
                <a:latin typeface="Aileron"/>
              </a:rPr>
              <a:t> user authentication</a:t>
            </a:r>
          </a:p>
          <a:p>
            <a:pPr marL="618224" indent="-309112" lvl="1">
              <a:lnSpc>
                <a:spcPts val="4008"/>
              </a:lnSpc>
              <a:buFont typeface="Arial"/>
              <a:buChar char="•"/>
            </a:pPr>
            <a:r>
              <a:rPr lang="en-US" sz="2863" spc="37">
                <a:solidFill>
                  <a:srgbClr val="000000"/>
                </a:solidFill>
                <a:latin typeface="Aileron"/>
              </a:rPr>
              <a:t>data synchronization</a:t>
            </a:r>
          </a:p>
          <a:p>
            <a:pPr marL="618224" indent="-309112" lvl="1">
              <a:lnSpc>
                <a:spcPts val="4008"/>
              </a:lnSpc>
              <a:buFont typeface="Arial"/>
              <a:buChar char="•"/>
            </a:pPr>
            <a:r>
              <a:rPr lang="en-US" sz="2863" spc="37">
                <a:solidFill>
                  <a:srgbClr val="000000"/>
                </a:solidFill>
                <a:latin typeface="Aileron"/>
              </a:rPr>
              <a:t> user interfaces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571341" y="540437"/>
            <a:ext cx="5687959" cy="4603063"/>
          </a:xfrm>
          <a:custGeom>
            <a:avLst/>
            <a:gdLst/>
            <a:ahLst/>
            <a:cxnLst/>
            <a:rect r="r" b="b" t="t" l="l"/>
            <a:pathLst>
              <a:path h="4603063" w="5687959">
                <a:moveTo>
                  <a:pt x="0" y="0"/>
                </a:moveTo>
                <a:lnTo>
                  <a:pt x="5687959" y="0"/>
                </a:lnTo>
                <a:lnTo>
                  <a:pt x="5687959" y="4603063"/>
                </a:lnTo>
                <a:lnTo>
                  <a:pt x="0" y="4603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8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63714" y="2786924"/>
            <a:ext cx="8229600" cy="4713151"/>
          </a:xfrm>
          <a:custGeom>
            <a:avLst/>
            <a:gdLst/>
            <a:ahLst/>
            <a:cxnLst/>
            <a:rect r="r" b="b" t="t" l="l"/>
            <a:pathLst>
              <a:path h="4713151" w="8229600">
                <a:moveTo>
                  <a:pt x="0" y="0"/>
                </a:moveTo>
                <a:lnTo>
                  <a:pt x="8229600" y="0"/>
                </a:lnTo>
                <a:lnTo>
                  <a:pt x="8229600" y="4713152"/>
                </a:lnTo>
                <a:lnTo>
                  <a:pt x="0" y="4713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51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29912" y="1028700"/>
            <a:ext cx="2037234" cy="1468147"/>
          </a:xfrm>
          <a:custGeom>
            <a:avLst/>
            <a:gdLst/>
            <a:ahLst/>
            <a:cxnLst/>
            <a:rect r="r" b="b" t="t" l="l"/>
            <a:pathLst>
              <a:path h="1468147" w="2037234">
                <a:moveTo>
                  <a:pt x="0" y="0"/>
                </a:moveTo>
                <a:lnTo>
                  <a:pt x="2037234" y="0"/>
                </a:lnTo>
                <a:lnTo>
                  <a:pt x="2037234" y="1468147"/>
                </a:lnTo>
                <a:lnTo>
                  <a:pt x="0" y="1468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729394">
            <a:off x="1666799" y="7318193"/>
            <a:ext cx="1181415" cy="1032184"/>
          </a:xfrm>
          <a:custGeom>
            <a:avLst/>
            <a:gdLst/>
            <a:ahLst/>
            <a:cxnLst/>
            <a:rect r="r" b="b" t="t" l="l"/>
            <a:pathLst>
              <a:path h="1032184" w="1181415">
                <a:moveTo>
                  <a:pt x="0" y="0"/>
                </a:moveTo>
                <a:lnTo>
                  <a:pt x="1181415" y="0"/>
                </a:lnTo>
                <a:lnTo>
                  <a:pt x="1181415" y="1032184"/>
                </a:lnTo>
                <a:lnTo>
                  <a:pt x="0" y="1032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258646">
            <a:off x="1088930" y="4187770"/>
            <a:ext cx="1464004" cy="1525575"/>
          </a:xfrm>
          <a:custGeom>
            <a:avLst/>
            <a:gdLst/>
            <a:ahLst/>
            <a:cxnLst/>
            <a:rect r="r" b="b" t="t" l="l"/>
            <a:pathLst>
              <a:path h="1525575" w="1464004">
                <a:moveTo>
                  <a:pt x="0" y="0"/>
                </a:moveTo>
                <a:lnTo>
                  <a:pt x="1464005" y="0"/>
                </a:lnTo>
                <a:lnTo>
                  <a:pt x="1464005" y="1525575"/>
                </a:lnTo>
                <a:lnTo>
                  <a:pt x="0" y="1525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44000" y="1174670"/>
            <a:ext cx="6899542" cy="7937661"/>
            <a:chOff x="0" y="0"/>
            <a:chExt cx="9199389" cy="1058354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9199389" cy="2628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872"/>
                </a:lnSpc>
                <a:spcBef>
                  <a:spcPct val="0"/>
                </a:spcBef>
              </a:pPr>
              <a:r>
                <a:rPr lang="en-US" sz="6400">
                  <a:solidFill>
                    <a:srgbClr val="F3F3F3"/>
                  </a:solidFill>
                  <a:latin typeface="Aileron Heavy"/>
                </a:rPr>
                <a:t>Economic Feasibility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352803"/>
              <a:ext cx="6421239" cy="7230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359"/>
                </a:lnSpc>
              </a:pPr>
              <a:r>
                <a:rPr lang="en-US" sz="2400" spc="31">
                  <a:solidFill>
                    <a:srgbClr val="F3F3F3"/>
                  </a:solidFill>
                  <a:latin typeface="Aileron Bold"/>
                </a:rPr>
                <a:t>Tangible Costs :</a:t>
              </a:r>
            </a:p>
            <a:p>
              <a:pPr>
                <a:lnSpc>
                  <a:spcPts val="3359"/>
                </a:lnSpc>
              </a:pPr>
            </a:p>
            <a:p>
              <a:pPr>
                <a:lnSpc>
                  <a:spcPts val="3359"/>
                </a:lnSpc>
              </a:pPr>
              <a:r>
                <a:rPr lang="en-US" sz="2400" spc="31">
                  <a:solidFill>
                    <a:srgbClr val="F3F3F3"/>
                  </a:solidFill>
                  <a:latin typeface="Aileron Bold"/>
                </a:rPr>
                <a:t>One-time Costs:</a:t>
              </a:r>
            </a:p>
            <a:p>
              <a:pPr>
                <a:lnSpc>
                  <a:spcPts val="3359"/>
                </a:lnSpc>
              </a:pPr>
              <a:r>
                <a:rPr lang="en-US" sz="2400" spc="31">
                  <a:solidFill>
                    <a:srgbClr val="F3F3F3"/>
                  </a:solidFill>
                  <a:latin typeface="Aileron Bold"/>
                </a:rPr>
                <a:t>Softwa</a:t>
              </a:r>
              <a:r>
                <a:rPr lang="en-US" sz="2400" spc="31">
                  <a:solidFill>
                    <a:srgbClr val="F3F3F3"/>
                  </a:solidFill>
                  <a:latin typeface="Aileron Bold"/>
                </a:rPr>
                <a:t>r</a:t>
              </a:r>
              <a:r>
                <a:rPr lang="en-US" sz="2400" spc="31" u="none">
                  <a:solidFill>
                    <a:srgbClr val="F3F3F3"/>
                  </a:solidFill>
                  <a:latin typeface="Aileron Bold"/>
                  <a:cs typeface="Aileron Bold"/>
                </a:rPr>
                <a:t>e and Licenses: ৳50,000</a:t>
              </a:r>
            </a:p>
            <a:p>
              <a:pPr>
                <a:lnSpc>
                  <a:spcPts val="3359"/>
                </a:lnSpc>
              </a:pPr>
              <a:r>
                <a:rPr lang="en-US" sz="2400" spc="31" u="none">
                  <a:solidFill>
                    <a:srgbClr val="F3F3F3"/>
                  </a:solidFill>
                  <a:latin typeface="Aileron Bold"/>
                  <a:cs typeface="Aileron Bold"/>
                </a:rPr>
                <a:t>Hardware: ৳50,000 </a:t>
              </a:r>
            </a:p>
            <a:p>
              <a:pPr>
                <a:lnSpc>
                  <a:spcPts val="3359"/>
                </a:lnSpc>
              </a:pPr>
              <a:r>
                <a:rPr lang="en-US" sz="2400" spc="31" u="none">
                  <a:solidFill>
                    <a:srgbClr val="F3F3F3"/>
                  </a:solidFill>
                  <a:latin typeface="Aileron Bold"/>
                  <a:cs typeface="Aileron Bold"/>
                </a:rPr>
                <a:t>Custom Development : ৳500,000 </a:t>
              </a:r>
            </a:p>
            <a:p>
              <a:pPr>
                <a:lnSpc>
                  <a:spcPts val="3359"/>
                </a:lnSpc>
              </a:pPr>
              <a:r>
                <a:rPr lang="en-US" sz="2400" spc="31" u="none">
                  <a:solidFill>
                    <a:srgbClr val="F3F3F3"/>
                  </a:solidFill>
                  <a:latin typeface="Aileron Bold"/>
                  <a:cs typeface="Aileron Bold"/>
                </a:rPr>
                <a:t>Training: ৳150,000 </a:t>
              </a:r>
            </a:p>
            <a:p>
              <a:pPr>
                <a:lnSpc>
                  <a:spcPts val="3359"/>
                </a:lnSpc>
              </a:pPr>
            </a:p>
            <a:p>
              <a:pPr>
                <a:lnSpc>
                  <a:spcPts val="3359"/>
                </a:lnSpc>
              </a:pPr>
              <a:r>
                <a:rPr lang="en-US" sz="2400" spc="31" u="none">
                  <a:solidFill>
                    <a:srgbClr val="F3F3F3"/>
                  </a:solidFill>
                  <a:latin typeface="Aileron Bold"/>
                </a:rPr>
                <a:t>Recurring Costs:</a:t>
              </a:r>
            </a:p>
            <a:p>
              <a:pPr>
                <a:lnSpc>
                  <a:spcPts val="3359"/>
                </a:lnSpc>
              </a:pPr>
              <a:r>
                <a:rPr lang="en-US" sz="2400" spc="31" u="none">
                  <a:solidFill>
                    <a:srgbClr val="F3F3F3"/>
                  </a:solidFill>
                  <a:latin typeface="Aileron Bold"/>
                  <a:cs typeface="Aileron Bold"/>
                </a:rPr>
                <a:t>Annual Maintenance: ৳80,000 </a:t>
              </a:r>
            </a:p>
            <a:p>
              <a:pPr>
                <a:lnSpc>
                  <a:spcPts val="3359"/>
                </a:lnSpc>
              </a:pPr>
              <a:r>
                <a:rPr lang="en-US" sz="2400" spc="31" u="none">
                  <a:solidFill>
                    <a:srgbClr val="F3F3F3"/>
                  </a:solidFill>
                  <a:latin typeface="Aileron Bold"/>
                  <a:cs typeface="Aileron Bold"/>
                </a:rPr>
                <a:t>IT Infrastructure: ৳120,000</a:t>
              </a:r>
            </a:p>
            <a:p>
              <a:pPr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36514"/>
            <a:ext cx="4117581" cy="467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39"/>
              </a:lnSpc>
            </a:pPr>
            <a:r>
              <a:rPr lang="en-US" sz="2599" spc="33">
                <a:solidFill>
                  <a:srgbClr val="F3F3F3"/>
                </a:solidFill>
                <a:latin typeface="DM Sans Bold"/>
              </a:rPr>
              <a:t>Return on Investment (ROI) Analysis :</a:t>
            </a:r>
          </a:p>
          <a:p>
            <a:pPr>
              <a:lnSpc>
                <a:spcPts val="3359"/>
              </a:lnSpc>
            </a:pPr>
            <a:r>
              <a:rPr lang="en-US" sz="2400" spc="31">
                <a:solidFill>
                  <a:srgbClr val="F3F3F3"/>
                </a:solidFill>
                <a:latin typeface="DM Sans Bold"/>
              </a:rPr>
              <a:t>ROI over 1 year: aiming for at least 5-10% ROI.</a:t>
            </a:r>
          </a:p>
          <a:p>
            <a:pPr>
              <a:lnSpc>
                <a:spcPts val="3359"/>
              </a:lnSpc>
            </a:pPr>
            <a:r>
              <a:rPr lang="en-US" sz="2400" spc="31">
                <a:solidFill>
                  <a:srgbClr val="F3F3F3"/>
                </a:solidFill>
                <a:latin typeface="DM Sans Bold"/>
              </a:rPr>
              <a:t>ROI over 5 years:  cumulative ROI of at least 25-50%.</a:t>
            </a:r>
          </a:p>
          <a:p>
            <a:pPr>
              <a:lnSpc>
                <a:spcPts val="3359"/>
              </a:lnSpc>
            </a:pPr>
            <a:r>
              <a:rPr lang="en-US" sz="2400" spc="31">
                <a:solidFill>
                  <a:srgbClr val="F3F3F3"/>
                </a:solidFill>
                <a:latin typeface="DM Sans Bold"/>
              </a:rPr>
              <a:t>ROI over 10 years: aiming for a significant ROI of 50-100% or more.</a:t>
            </a:r>
          </a:p>
          <a:p>
            <a:pPr marL="0" indent="0" lvl="0">
              <a:lnSpc>
                <a:spcPts val="33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541623" y="-1062739"/>
            <a:ext cx="8765490" cy="5065179"/>
          </a:xfrm>
          <a:custGeom>
            <a:avLst/>
            <a:gdLst/>
            <a:ahLst/>
            <a:cxnLst/>
            <a:rect r="r" b="b" t="t" l="l"/>
            <a:pathLst>
              <a:path h="5065179" w="8765490">
                <a:moveTo>
                  <a:pt x="0" y="0"/>
                </a:moveTo>
                <a:lnTo>
                  <a:pt x="8765489" y="0"/>
                </a:lnTo>
                <a:lnTo>
                  <a:pt x="8765489" y="5065180"/>
                </a:lnTo>
                <a:lnTo>
                  <a:pt x="0" y="506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5037" y="6013011"/>
            <a:ext cx="4628213" cy="4519739"/>
          </a:xfrm>
          <a:custGeom>
            <a:avLst/>
            <a:gdLst/>
            <a:ahLst/>
            <a:cxnLst/>
            <a:rect r="r" b="b" t="t" l="l"/>
            <a:pathLst>
              <a:path h="4519739" w="4628213">
                <a:moveTo>
                  <a:pt x="0" y="0"/>
                </a:moveTo>
                <a:lnTo>
                  <a:pt x="4628213" y="0"/>
                </a:lnTo>
                <a:lnTo>
                  <a:pt x="4628213" y="4519739"/>
                </a:lnTo>
                <a:lnTo>
                  <a:pt x="0" y="4519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218539">
            <a:off x="15771332" y="5645760"/>
            <a:ext cx="840694" cy="734501"/>
          </a:xfrm>
          <a:custGeom>
            <a:avLst/>
            <a:gdLst/>
            <a:ahLst/>
            <a:cxnLst/>
            <a:rect r="r" b="b" t="t" l="l"/>
            <a:pathLst>
              <a:path h="734501" w="840694">
                <a:moveTo>
                  <a:pt x="0" y="0"/>
                </a:moveTo>
                <a:lnTo>
                  <a:pt x="840694" y="0"/>
                </a:lnTo>
                <a:lnTo>
                  <a:pt x="840694" y="734501"/>
                </a:lnTo>
                <a:lnTo>
                  <a:pt x="0" y="7345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2722">
            <a:off x="4987781" y="1985492"/>
            <a:ext cx="2097875" cy="1123155"/>
          </a:xfrm>
          <a:custGeom>
            <a:avLst/>
            <a:gdLst/>
            <a:ahLst/>
            <a:cxnLst/>
            <a:rect r="r" b="b" t="t" l="l"/>
            <a:pathLst>
              <a:path h="1123155" w="2097875">
                <a:moveTo>
                  <a:pt x="0" y="0"/>
                </a:moveTo>
                <a:lnTo>
                  <a:pt x="2097875" y="0"/>
                </a:lnTo>
                <a:lnTo>
                  <a:pt x="2097875" y="1123154"/>
                </a:lnTo>
                <a:lnTo>
                  <a:pt x="0" y="11231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764897" y="4532750"/>
            <a:ext cx="10124770" cy="5399239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564157" y="933450"/>
            <a:ext cx="8695143" cy="181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7373"/>
              </a:lnSpc>
            </a:pPr>
            <a:r>
              <a:rPr lang="en-US" sz="5266">
                <a:solidFill>
                  <a:srgbClr val="FFFFFF"/>
                </a:solidFill>
                <a:latin typeface="DM Sans Bold"/>
              </a:rPr>
              <a:t>SALES RATE FOR THE 10  NEXT YEARS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07707" y="4394186"/>
            <a:ext cx="421957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DM Sans Bold"/>
              </a:rPr>
              <a:t>Cost-Benefit Analysis 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19921" y="1009650"/>
            <a:ext cx="9039379" cy="1975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2"/>
              </a:lnSpc>
              <a:spcBef>
                <a:spcPct val="0"/>
              </a:spcBef>
            </a:pPr>
            <a:r>
              <a:rPr lang="en-US" sz="6400">
                <a:solidFill>
                  <a:srgbClr val="000000"/>
                </a:solidFill>
                <a:latin typeface="Aileron Heavy"/>
              </a:rPr>
              <a:t>Economic Tangible Benefits 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96154" y="-187741"/>
            <a:ext cx="9549887" cy="5833045"/>
            <a:chOff x="0" y="0"/>
            <a:chExt cx="12733183" cy="7777394"/>
          </a:xfrm>
        </p:grpSpPr>
        <p:sp>
          <p:nvSpPr>
            <p:cNvPr name="Freeform 4" id="4"/>
            <p:cNvSpPr/>
            <p:nvPr/>
          </p:nvSpPr>
          <p:spPr>
            <a:xfrm flipH="false" flipV="false" rot="-1432890">
              <a:off x="11448342" y="2711873"/>
              <a:ext cx="1132970" cy="989858"/>
            </a:xfrm>
            <a:custGeom>
              <a:avLst/>
              <a:gdLst/>
              <a:ahLst/>
              <a:cxnLst/>
              <a:rect r="r" b="b" t="t" l="l"/>
              <a:pathLst>
                <a:path h="989858" w="1132970">
                  <a:moveTo>
                    <a:pt x="0" y="0"/>
                  </a:moveTo>
                  <a:lnTo>
                    <a:pt x="1132970" y="0"/>
                  </a:lnTo>
                  <a:lnTo>
                    <a:pt x="1132970" y="989858"/>
                  </a:lnTo>
                  <a:lnTo>
                    <a:pt x="0" y="98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2612243">
              <a:off x="217879" y="4777861"/>
              <a:ext cx="1968781" cy="1418817"/>
            </a:xfrm>
            <a:custGeom>
              <a:avLst/>
              <a:gdLst/>
              <a:ahLst/>
              <a:cxnLst/>
              <a:rect r="r" b="b" t="t" l="l"/>
              <a:pathLst>
                <a:path h="1418817" w="1968781">
                  <a:moveTo>
                    <a:pt x="0" y="0"/>
                  </a:moveTo>
                  <a:lnTo>
                    <a:pt x="1968781" y="0"/>
                  </a:lnTo>
                  <a:lnTo>
                    <a:pt x="1968781" y="1418817"/>
                  </a:lnTo>
                  <a:lnTo>
                    <a:pt x="0" y="1418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38548" y="0"/>
              <a:ext cx="9663606" cy="7777394"/>
            </a:xfrm>
            <a:custGeom>
              <a:avLst/>
              <a:gdLst/>
              <a:ahLst/>
              <a:cxnLst/>
              <a:rect r="r" b="b" t="t" l="l"/>
              <a:pathLst>
                <a:path h="7777394" w="9663606">
                  <a:moveTo>
                    <a:pt x="0" y="0"/>
                  </a:moveTo>
                  <a:lnTo>
                    <a:pt x="9663606" y="0"/>
                  </a:lnTo>
                  <a:lnTo>
                    <a:pt x="9663606" y="7777394"/>
                  </a:lnTo>
                  <a:lnTo>
                    <a:pt x="0" y="7777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219921" y="3263541"/>
            <a:ext cx="9039379" cy="296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97" indent="-345448" lvl="1">
              <a:lnSpc>
                <a:spcPts val="393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</a:rPr>
              <a:t>Improved Safety and Security: Proper management ensures compliance with safety and security regulations</a:t>
            </a:r>
          </a:p>
          <a:p>
            <a:pPr algn="ctr" marL="690897" indent="-345448" lvl="1">
              <a:lnSpc>
                <a:spcPts val="393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</a:rPr>
              <a:t>Environmental Sustainability: Implementing eco-friendly practices .</a:t>
            </a:r>
          </a:p>
          <a:p>
            <a:pPr algn="ctr">
              <a:lnSpc>
                <a:spcPts val="393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32310" y="6698322"/>
            <a:ext cx="12942306" cy="98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2"/>
              </a:lnSpc>
              <a:spcBef>
                <a:spcPct val="0"/>
              </a:spcBef>
            </a:pPr>
            <a:r>
              <a:rPr lang="en-US" sz="6400">
                <a:solidFill>
                  <a:srgbClr val="000000"/>
                </a:solidFill>
                <a:latin typeface="Aileron Heavy"/>
              </a:rPr>
              <a:t>Economic Intangible Benefits:</a:t>
            </a:r>
            <a:r>
              <a:rPr lang="en-US" sz="6400">
                <a:solidFill>
                  <a:srgbClr val="000000"/>
                </a:solidFill>
                <a:latin typeface="Aileron Heavy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158760"/>
            <a:ext cx="15394987" cy="21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7494" indent="-303747" lvl="1">
              <a:lnSpc>
                <a:spcPts val="3460"/>
              </a:lnSpc>
              <a:buFont typeface="Arial"/>
              <a:buChar char="•"/>
            </a:pPr>
            <a:r>
              <a:rPr lang="en-US" sz="2813">
                <a:solidFill>
                  <a:srgbClr val="000000"/>
                </a:solidFill>
                <a:latin typeface="Aileron"/>
              </a:rPr>
              <a:t>Enhanced Customer Experience: Efficient operations, shorter waiting times, improved facilities</a:t>
            </a:r>
          </a:p>
          <a:p>
            <a:pPr algn="ctr" marL="607494" indent="-303747" lvl="1">
              <a:lnSpc>
                <a:spcPts val="3460"/>
              </a:lnSpc>
              <a:buFont typeface="Arial"/>
              <a:buChar char="•"/>
            </a:pPr>
            <a:r>
              <a:rPr lang="en-US" sz="2813">
                <a:solidFill>
                  <a:srgbClr val="000000"/>
                </a:solidFill>
                <a:latin typeface="Aileron"/>
              </a:rPr>
              <a:t> Reputation and Brand Image: Well-managed airports are perceived as reliable, safe, and customer-friendly.</a:t>
            </a:r>
          </a:p>
          <a:p>
            <a:pPr algn="ctr">
              <a:lnSpc>
                <a:spcPts val="3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5215" y="1869784"/>
            <a:ext cx="11097570" cy="6547433"/>
            <a:chOff x="0" y="0"/>
            <a:chExt cx="14796759" cy="872991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4796759" cy="3816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000"/>
                </a:lnSpc>
                <a:spcBef>
                  <a:spcPct val="0"/>
                </a:spcBef>
              </a:pPr>
              <a:r>
                <a:rPr lang="en-US" sz="10000">
                  <a:solidFill>
                    <a:srgbClr val="F3F3F3"/>
                  </a:solidFill>
                  <a:latin typeface="Aileron Ultra-Bold"/>
                </a:rPr>
                <a:t> </a:t>
              </a:r>
              <a:r>
                <a:rPr lang="en-US" sz="10000">
                  <a:solidFill>
                    <a:srgbClr val="F3F3F3"/>
                  </a:solidFill>
                  <a:latin typeface="Aileron Ultra-Bold"/>
                </a:rPr>
                <a:t>Operational Feasibility :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830538" y="4429060"/>
              <a:ext cx="11135684" cy="430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spc="31">
                  <a:solidFill>
                    <a:srgbClr val="F3F3F3"/>
                  </a:solidFill>
                  <a:latin typeface="Aileron"/>
                </a:rPr>
                <a:t>Improvements Expected :</a:t>
              </a:r>
              <a:r>
                <a:rPr lang="en-US" sz="2400" spc="31">
                  <a:solidFill>
                    <a:srgbClr val="F3F3F3"/>
                  </a:solidFill>
                  <a:latin typeface="Aileron"/>
                </a:rPr>
                <a:t> </a:t>
              </a:r>
            </a:p>
            <a:p>
              <a:pPr algn="ctr">
                <a:lnSpc>
                  <a:spcPts val="3360"/>
                </a:lnSpc>
              </a:pPr>
              <a:r>
                <a:rPr lang="en-US" sz="2400" spc="31">
                  <a:solidFill>
                    <a:srgbClr val="F3F3F3"/>
                  </a:solidFill>
                  <a:latin typeface="Aileron"/>
                </a:rPr>
                <a:t>real-time data access, enhanced decision-making, improved customer experience .</a:t>
              </a:r>
            </a:p>
            <a:p>
              <a:pPr algn="ctr">
                <a:lnSpc>
                  <a:spcPts val="3360"/>
                </a:lnSpc>
              </a:pPr>
            </a:p>
            <a:p>
              <a:pPr algn="ctr">
                <a:lnSpc>
                  <a:spcPts val="3360"/>
                </a:lnSpc>
              </a:pPr>
              <a:r>
                <a:rPr lang="en-US" sz="2400" spc="31">
                  <a:solidFill>
                    <a:srgbClr val="F3F3F3"/>
                  </a:solidFill>
                  <a:latin typeface="Aileron"/>
                </a:rPr>
                <a:t>Capability to Deliver Required Functionality : </a:t>
              </a:r>
            </a:p>
            <a:p>
              <a:pPr algn="ctr">
                <a:lnSpc>
                  <a:spcPts val="3360"/>
                </a:lnSpc>
              </a:pPr>
              <a:r>
                <a:rPr lang="en-US" sz="2400" spc="31">
                  <a:solidFill>
                    <a:srgbClr val="F3F3F3"/>
                  </a:solidFill>
                  <a:latin typeface="Aileron"/>
                </a:rPr>
                <a:t>Adequate throughput, real-time data processing, seamless user experience, and accessibility for staff and passengers.</a:t>
              </a:r>
            </a:p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535916" y="6234370"/>
            <a:ext cx="4612743" cy="5345355"/>
          </a:xfrm>
          <a:custGeom>
            <a:avLst/>
            <a:gdLst/>
            <a:ahLst/>
            <a:cxnLst/>
            <a:rect r="r" b="b" t="t" l="l"/>
            <a:pathLst>
              <a:path h="5345355" w="4612743">
                <a:moveTo>
                  <a:pt x="0" y="0"/>
                </a:moveTo>
                <a:lnTo>
                  <a:pt x="4612744" y="0"/>
                </a:lnTo>
                <a:lnTo>
                  <a:pt x="4612744" y="5345355"/>
                </a:lnTo>
                <a:lnTo>
                  <a:pt x="0" y="534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032715">
            <a:off x="13438230" y="-733565"/>
            <a:ext cx="5494638" cy="5725721"/>
          </a:xfrm>
          <a:custGeom>
            <a:avLst/>
            <a:gdLst/>
            <a:ahLst/>
            <a:cxnLst/>
            <a:rect r="r" b="b" t="t" l="l"/>
            <a:pathLst>
              <a:path h="5725721" w="5494638">
                <a:moveTo>
                  <a:pt x="0" y="0"/>
                </a:moveTo>
                <a:lnTo>
                  <a:pt x="5494638" y="0"/>
                </a:lnTo>
                <a:lnTo>
                  <a:pt x="5494638" y="5725721"/>
                </a:lnTo>
                <a:lnTo>
                  <a:pt x="0" y="5725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4621" y="7674513"/>
            <a:ext cx="1298671" cy="1232535"/>
          </a:xfrm>
          <a:custGeom>
            <a:avLst/>
            <a:gdLst/>
            <a:ahLst/>
            <a:cxnLst/>
            <a:rect r="r" b="b" t="t" l="l"/>
            <a:pathLst>
              <a:path h="1232535" w="1298671">
                <a:moveTo>
                  <a:pt x="0" y="0"/>
                </a:moveTo>
                <a:lnTo>
                  <a:pt x="1298671" y="0"/>
                </a:lnTo>
                <a:lnTo>
                  <a:pt x="1298671" y="1232535"/>
                </a:lnTo>
                <a:lnTo>
                  <a:pt x="0" y="1232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80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4582" y="7956036"/>
            <a:ext cx="17104285" cy="191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676"/>
              </a:lnSpc>
            </a:pPr>
            <a:r>
              <a:rPr lang="en-US" sz="11197" spc="145">
                <a:solidFill>
                  <a:srgbClr val="F3F3F3"/>
                </a:solidFill>
                <a:latin typeface="Aileron"/>
              </a:rPr>
              <a:t>THANK YOU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9009494">
            <a:off x="4766443" y="1492204"/>
            <a:ext cx="3674473" cy="4258066"/>
          </a:xfrm>
          <a:custGeom>
            <a:avLst/>
            <a:gdLst/>
            <a:ahLst/>
            <a:cxnLst/>
            <a:rect r="r" b="b" t="t" l="l"/>
            <a:pathLst>
              <a:path h="4258066" w="3674473">
                <a:moveTo>
                  <a:pt x="0" y="0"/>
                </a:moveTo>
                <a:lnTo>
                  <a:pt x="3674473" y="0"/>
                </a:lnTo>
                <a:lnTo>
                  <a:pt x="3674473" y="4258066"/>
                </a:lnTo>
                <a:lnTo>
                  <a:pt x="0" y="4258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22222" y="1046953"/>
            <a:ext cx="6735414" cy="6798362"/>
          </a:xfrm>
          <a:custGeom>
            <a:avLst/>
            <a:gdLst/>
            <a:ahLst/>
            <a:cxnLst/>
            <a:rect r="r" b="b" t="t" l="l"/>
            <a:pathLst>
              <a:path h="6798362" w="6735414">
                <a:moveTo>
                  <a:pt x="0" y="0"/>
                </a:moveTo>
                <a:lnTo>
                  <a:pt x="6735414" y="0"/>
                </a:lnTo>
                <a:lnTo>
                  <a:pt x="6735414" y="6798362"/>
                </a:lnTo>
                <a:lnTo>
                  <a:pt x="0" y="6798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239300">
            <a:off x="4700264" y="1673096"/>
            <a:ext cx="1219961" cy="1065861"/>
          </a:xfrm>
          <a:custGeom>
            <a:avLst/>
            <a:gdLst/>
            <a:ahLst/>
            <a:cxnLst/>
            <a:rect r="r" b="b" t="t" l="l"/>
            <a:pathLst>
              <a:path h="1065861" w="1219961">
                <a:moveTo>
                  <a:pt x="0" y="0"/>
                </a:moveTo>
                <a:lnTo>
                  <a:pt x="1219961" y="0"/>
                </a:lnTo>
                <a:lnTo>
                  <a:pt x="1219961" y="1065861"/>
                </a:lnTo>
                <a:lnTo>
                  <a:pt x="0" y="1065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DAF9mt6Jxsg</dc:identifier>
  <dcterms:modified xsi:type="dcterms:W3CDTF">2011-08-01T06:04:30Z</dcterms:modified>
  <cp:revision>1</cp:revision>
  <dc:title>AIRLINE_MANGMENT_SYSTEM_AAS_210041258_210041272_210041270</dc:title>
</cp:coreProperties>
</file>